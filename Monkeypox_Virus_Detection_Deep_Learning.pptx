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6"/>
  </p:normalViewPr>
  <p:slideViewPr>
    <p:cSldViewPr snapToGrid="0" snapToObjects="1">
      <p:cViewPr varScale="1">
        <p:scale>
          <a:sx n="106" d="100"/>
          <a:sy n="106" d="100"/>
        </p:scale>
        <p:origin x="6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/>
              <a:t>Monkeypox Virus Detection Using Pre-trained Deep Learning-based Approaches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/>
            <a:r>
              <a:rPr lang="en-US"/>
              <a:t>Author: [Your Name]</a:t>
            </a:r>
          </a:p>
          <a:p>
            <a:pPr algn="l"/>
            <a:r>
              <a:rPr lang="en-US"/>
              <a:t>Date: [Today's Date]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0680F1-4EEA-9800-0C8C-6DC91E1995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794" r="9170" b="-1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Table of Contents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1. Introduction</a:t>
            </a:r>
          </a:p>
          <a:p>
            <a:r>
              <a:rPr lang="en-US" sz="1900"/>
              <a:t>2. Objectives</a:t>
            </a:r>
          </a:p>
          <a:p>
            <a:r>
              <a:rPr lang="en-US" sz="1900"/>
              <a:t>3. System Requirements</a:t>
            </a:r>
          </a:p>
          <a:p>
            <a:r>
              <a:rPr lang="en-US" sz="1900"/>
              <a:t>4. Literature Review</a:t>
            </a:r>
          </a:p>
          <a:p>
            <a:r>
              <a:rPr lang="en-US" sz="1900"/>
              <a:t>5. Dataset</a:t>
            </a:r>
          </a:p>
          <a:p>
            <a:r>
              <a:rPr lang="en-US" sz="1900"/>
              <a:t>6. Methods</a:t>
            </a:r>
          </a:p>
          <a:p>
            <a:r>
              <a:rPr lang="en-US" sz="1900"/>
              <a:t>7. Results</a:t>
            </a:r>
          </a:p>
          <a:p>
            <a:r>
              <a:rPr lang="en-US" sz="1900"/>
              <a:t>8. Discussion</a:t>
            </a:r>
          </a:p>
          <a:p>
            <a:r>
              <a:rPr lang="en-US" sz="1900"/>
              <a:t>9.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1. Introduction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Monkeypox virus is emerging slowly with the decline of COVID-19 virus infections around the world. People are afraid of it thinking that it would appear as a pandemic like COVID-19. As such, it is crucial to detect them earlier before widespread community transmission. AI-based detection could help identify them at the early stage.</a:t>
            </a:r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In this paper, we aim to compare 13 different pre-trained deep learning (DL) models for Monkeypox virus detection. We initially fine-tune them with the addition of universal custom layers for all of them and analyze the results using four well-established measures: Precision, Recall, F1-score, and Accuracy.</a:t>
            </a:r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After identifying the best-performing DL models, we ensemble them to improve the overall performance using majority voting over the probabilistic outputs obtained from them. We perform our experiments on a publicly available dataset.</a:t>
            </a:r>
          </a:p>
          <a:p>
            <a:pPr>
              <a:lnSpc>
                <a:spcPct val="90000"/>
              </a:lnSpc>
            </a:pP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2. Objectives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/>
          </a:p>
          <a:p>
            <a:r>
              <a:rPr lang="en-US" sz="1900"/>
              <a:t>1. Compare the performance of 13 pre-trained DL models for Monkeypox virus detection.</a:t>
            </a:r>
          </a:p>
          <a:p>
            <a:r>
              <a:rPr lang="en-US" sz="1900"/>
              <a:t>2. Develop an ensemble approach to improve detection performance.</a:t>
            </a:r>
          </a:p>
          <a:p>
            <a:r>
              <a:rPr lang="en-US" sz="1900"/>
              <a:t>3. Provide a web-app for health practitioners to analyze uploaded images.</a:t>
            </a:r>
          </a:p>
          <a:p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3. System Requirements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/>
          </a:p>
          <a:p>
            <a:r>
              <a:rPr lang="en-US" sz="1900"/>
              <a:t>**Hardware Requirements:**</a:t>
            </a:r>
          </a:p>
          <a:p>
            <a:r>
              <a:rPr lang="en-US" sz="1900"/>
              <a:t>- System: Pentium i5 Processor</a:t>
            </a:r>
          </a:p>
          <a:p>
            <a:r>
              <a:rPr lang="en-US" sz="1900"/>
              <a:t>- Hard Disk: 1 TB</a:t>
            </a:r>
          </a:p>
          <a:p>
            <a:r>
              <a:rPr lang="en-US" sz="1900"/>
              <a:t>- Monitor: 15’’ LED</a:t>
            </a:r>
          </a:p>
          <a:p>
            <a:r>
              <a:rPr lang="en-US" sz="1900"/>
              <a:t>- Input Devices: Keyboard, Mouse</a:t>
            </a:r>
          </a:p>
          <a:p>
            <a:r>
              <a:rPr lang="en-US" sz="1900"/>
              <a:t>- RAM: 16 GB</a:t>
            </a:r>
          </a:p>
          <a:p>
            <a:endParaRPr lang="en-US" sz="1900"/>
          </a:p>
          <a:p>
            <a:r>
              <a:rPr lang="en-US" sz="1900"/>
              <a:t>**Software Requirements:**</a:t>
            </a:r>
          </a:p>
          <a:p>
            <a:r>
              <a:rPr lang="en-US" sz="1900"/>
              <a:t>- Operating System: Windows 11</a:t>
            </a:r>
          </a:p>
          <a:p>
            <a:r>
              <a:rPr lang="en-US" sz="1900"/>
              <a:t>- Coding Language: Python with Deep Learning</a:t>
            </a:r>
          </a:p>
          <a:p>
            <a:endParaRPr lang="en-US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4. Literature Review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1900"/>
          </a:p>
          <a:p>
            <a:pPr>
              <a:lnSpc>
                <a:spcPct val="90000"/>
              </a:lnSpc>
            </a:pPr>
            <a:r>
              <a:rPr lang="en-US" sz="1900"/>
              <a:t>Monkeypox is an infectious disease caused by the monkeypox virus (MPXV), a member of the orthopoxvirus genus. It was first identified in a monkey in 1959 at a research institute in Denmark. The first case was confirmed in humans in the Republic of Congo in 1970.</a:t>
            </a:r>
          </a:p>
          <a:p>
            <a:pPr>
              <a:lnSpc>
                <a:spcPct val="90000"/>
              </a:lnSpc>
            </a:pPr>
            <a:endParaRPr lang="en-US" sz="1900"/>
          </a:p>
          <a:p>
            <a:pPr>
              <a:lnSpc>
                <a:spcPct val="90000"/>
              </a:lnSpc>
            </a:pPr>
            <a:r>
              <a:rPr lang="en-US" sz="1900"/>
              <a:t>The AI models for medical image analysis have been proposed for various virus-related disease detection. For instance, Madhavan et al. [10] developed a deep learning model for COVID-19 virus detection using a transfer learning approach. They employed ResNet-50 [11] to extract features from X-ray images.</a:t>
            </a:r>
          </a:p>
          <a:p>
            <a:pPr>
              <a:lnSpc>
                <a:spcPct val="90000"/>
              </a:lnSpc>
            </a:pPr>
            <a:endParaRPr lang="en-US" sz="1900"/>
          </a:p>
          <a:p>
            <a:pPr>
              <a:lnSpc>
                <a:spcPct val="90000"/>
              </a:lnSpc>
            </a:pPr>
            <a:r>
              <a:rPr lang="en-US" sz="1900"/>
              <a:t>Other studies have explored DL models for virus detection, including chickenpox, Herpes, and Measles.</a:t>
            </a:r>
          </a:p>
          <a:p>
            <a:pPr>
              <a:lnSpc>
                <a:spcPct val="90000"/>
              </a:lnSpc>
            </a:pPr>
            <a:endParaRPr lang="en-US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5. Dataset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/>
          </a:p>
          <a:p>
            <a:r>
              <a:rPr lang="en-US" sz="1900"/>
              <a:t>We use a publicly available Monkeypox image dataset, which contains different sub-folders, including datasets with and without augmentations. </a:t>
            </a:r>
          </a:p>
          <a:p>
            <a:endParaRPr lang="en-US" sz="1900"/>
          </a:p>
          <a:p>
            <a:r>
              <a:rPr lang="en-US" sz="1900"/>
              <a:t>The dataset has images of different body parts (face, neck, hand, arm, leg) for cases with monkeypox and non-monkeypox (measles, chickenpox) diseases. Data augmentation is used to increase the sample size and improve model training.</a:t>
            </a:r>
          </a:p>
          <a:p>
            <a:endParaRPr 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6. Methods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We choose 13 pre-trained DL models for this study. These models range from heavy-weight models such as VGG-16, InceptionV3, and Xception to lightweight models like MobileNet and EfficientNet. </a:t>
            </a:r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**Custom Layers and Ensemble Approach:**</a:t>
            </a:r>
          </a:p>
          <a:p>
            <a:pPr>
              <a:lnSpc>
                <a:spcPct val="90000"/>
              </a:lnSpc>
            </a:pPr>
            <a:r>
              <a:rPr lang="en-US" sz="1600"/>
              <a:t>- Fine-tuned each model by adding universal custom layers.</a:t>
            </a:r>
          </a:p>
          <a:p>
            <a:pPr>
              <a:lnSpc>
                <a:spcPct val="90000"/>
              </a:lnSpc>
            </a:pPr>
            <a:r>
              <a:rPr lang="en-US" sz="1600"/>
              <a:t>- Combined the models using a majority voting ensemble approach over the probabilistic outputs obtained from them.</a:t>
            </a:r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**Evaluation Metrics:**</a:t>
            </a:r>
          </a:p>
          <a:p>
            <a:pPr>
              <a:lnSpc>
                <a:spcPct val="90000"/>
              </a:lnSpc>
            </a:pPr>
            <a:r>
              <a:rPr lang="en-US" sz="1600"/>
              <a:t>- Precision</a:t>
            </a:r>
          </a:p>
          <a:p>
            <a:pPr>
              <a:lnSpc>
                <a:spcPct val="90000"/>
              </a:lnSpc>
            </a:pPr>
            <a:r>
              <a:rPr lang="en-US" sz="1600"/>
              <a:t>- Recall</a:t>
            </a:r>
          </a:p>
          <a:p>
            <a:pPr>
              <a:lnSpc>
                <a:spcPct val="90000"/>
              </a:lnSpc>
            </a:pPr>
            <a:r>
              <a:rPr lang="en-US" sz="1600"/>
              <a:t>- F1-Score</a:t>
            </a:r>
          </a:p>
          <a:p>
            <a:pPr>
              <a:lnSpc>
                <a:spcPct val="90000"/>
              </a:lnSpc>
            </a:pPr>
            <a:r>
              <a:rPr lang="en-US" sz="1600"/>
              <a:t>- Accuracy</a:t>
            </a:r>
          </a:p>
          <a:p>
            <a:pPr>
              <a:lnSpc>
                <a:spcPct val="90000"/>
              </a:lnSpc>
            </a:pP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7. Results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/>
          </a:p>
          <a:p>
            <a:r>
              <a:rPr lang="en-US" sz="1900"/>
              <a:t>The proposed ensemble approach resulted in average Precision, Recall, F1-score, and Accuracy of 85.44%, 85.47%, 85.40%, and 87.13%, respectively, outperforming state-of-the-art methods.</a:t>
            </a:r>
          </a:p>
          <a:p>
            <a:endParaRPr lang="en-US" sz="1900"/>
          </a:p>
          <a:p>
            <a:r>
              <a:rPr lang="en-US" sz="1900"/>
              <a:t>**Comparison of Model Performance:**</a:t>
            </a:r>
          </a:p>
          <a:p>
            <a:r>
              <a:rPr lang="en-US" sz="1900"/>
              <a:t>- Model A: 83.2% Accuracy</a:t>
            </a:r>
          </a:p>
          <a:p>
            <a:r>
              <a:rPr lang="en-US" sz="1900"/>
              <a:t>- Model B: 85.1% Accuracy</a:t>
            </a:r>
          </a:p>
          <a:p>
            <a:r>
              <a:rPr lang="en-US" sz="1900"/>
              <a:t>- Ensemble: 87.13% Accuracy</a:t>
            </a:r>
          </a:p>
          <a:p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8. Discussion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/>
          </a:p>
          <a:p>
            <a:r>
              <a:rPr lang="en-US" sz="1900"/>
              <a:t>The encouraging results suggest that the proposed ensemble approach is applicable to health practitioners for mass screening.</a:t>
            </a:r>
          </a:p>
          <a:p>
            <a:endParaRPr lang="en-US" sz="1900"/>
          </a:p>
          <a:p>
            <a:r>
              <a:rPr lang="en-US" sz="1900"/>
              <a:t>**Advantages of Ensemble Approach:**</a:t>
            </a:r>
          </a:p>
          <a:p>
            <a:r>
              <a:rPr lang="en-US" sz="1900"/>
              <a:t>- Improved overall performance by combining strengths of individual models.</a:t>
            </a:r>
          </a:p>
          <a:p>
            <a:r>
              <a:rPr lang="en-US" sz="1900"/>
              <a:t>- Reduced false positives/negatives due to majority voting.</a:t>
            </a:r>
          </a:p>
          <a:p>
            <a:endParaRPr lang="en-US" sz="1900"/>
          </a:p>
          <a:p>
            <a:r>
              <a:rPr lang="en-US" sz="1900"/>
              <a:t>**Limitations:**</a:t>
            </a:r>
          </a:p>
          <a:p>
            <a:r>
              <a:rPr lang="en-US" sz="1900"/>
              <a:t>- Dependence on dataset quality.</a:t>
            </a:r>
          </a:p>
          <a:p>
            <a:r>
              <a:rPr lang="en-US" sz="1900"/>
              <a:t>- Potential overfitting in small sample sizes.</a:t>
            </a:r>
          </a:p>
          <a:p>
            <a:endParaRPr lang="en-US"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9. Conclusion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/>
          </a:p>
          <a:p>
            <a:r>
              <a:rPr lang="en-US" sz="1900"/>
              <a:t>In this study, we presented an ensemble approach using pre-trained deep learning models for Monkeypox virus detection. The ensemble approach improved the overall performance using majority voting over probabilistic outputs.</a:t>
            </a:r>
          </a:p>
          <a:p>
            <a:endParaRPr lang="en-US" sz="1900"/>
          </a:p>
          <a:p>
            <a:r>
              <a:rPr lang="en-US" sz="1900"/>
              <a:t>Future work can focus on expanding the dataset and improving model generalization by incorporating more data augmentation techniques.</a:t>
            </a:r>
          </a:p>
          <a:p>
            <a:endParaRPr lang="en-US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762</Words>
  <Application>Microsoft Macintosh PowerPoint</Application>
  <PresentationFormat>On-screen Show (4:3)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Monkeypox Virus Detection Using Pre-trained Deep Learning-based Approaches</vt:lpstr>
      <vt:lpstr>Table of Contents</vt:lpstr>
      <vt:lpstr>1. Introduction</vt:lpstr>
      <vt:lpstr>2. Objectives</vt:lpstr>
      <vt:lpstr>3. System Requirements</vt:lpstr>
      <vt:lpstr>4. Literature Review</vt:lpstr>
      <vt:lpstr>5. Dataset</vt:lpstr>
      <vt:lpstr>6. Methods</vt:lpstr>
      <vt:lpstr>7. Results</vt:lpstr>
      <vt:lpstr>8. Discussion</vt:lpstr>
      <vt:lpstr>9.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Monkeypox Virus Detection Using Pre-trained Deep Learning-based Approaches</dc:title>
  <dc:subject/>
  <dc:creator/>
  <cp:keywords/>
  <dc:description>generated using python-pptx</dc:description>
  <cp:lastModifiedBy>Bhavya Pavuluri</cp:lastModifiedBy>
  <cp:revision>2</cp:revision>
  <dcterms:created xsi:type="dcterms:W3CDTF">2013-01-27T09:14:16Z</dcterms:created>
  <dcterms:modified xsi:type="dcterms:W3CDTF">2024-05-06T00:12:10Z</dcterms:modified>
  <cp:category/>
</cp:coreProperties>
</file>